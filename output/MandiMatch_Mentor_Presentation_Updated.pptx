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3643c3ef9a4862" /><Relationship Type="http://schemas.openxmlformats.org/officeDocument/2006/relationships/extended-properties" Target="/docProps/app.xml" Id="R70a174aee02e4376" /><Relationship Type="http://schemas.openxmlformats.org/officeDocument/2006/relationships/officeDocument" Target="/ppt/presentation.xml" Id="R91a79e594191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47ec157cb14408"/>
  </p:sldMasterIdLst>
  <p:notesMasterIdLst>
    <p:notesMasterId xmlns:r="http://schemas.openxmlformats.org/officeDocument/2006/relationships" r:id="Rd60876d89e384300"/>
  </p:notesMasterIdLst>
  <p:sldIdLst>
    <p:sldId xmlns:r="http://schemas.openxmlformats.org/officeDocument/2006/relationships" id="256" r:id="R71f83a3c11ad45fb"/>
    <p:sldId xmlns:r="http://schemas.openxmlformats.org/officeDocument/2006/relationships" id="257" r:id="Rfaaddc09f3264683"/>
    <p:sldId xmlns:r="http://schemas.openxmlformats.org/officeDocument/2006/relationships" id="258" r:id="Rddd917d3e1ee4497"/>
    <p:sldId xmlns:r="http://schemas.openxmlformats.org/officeDocument/2006/relationships" id="259" r:id="Rd6b98f38bc364e28"/>
    <p:sldId xmlns:r="http://schemas.openxmlformats.org/officeDocument/2006/relationships" id="260" r:id="Rbf410938adbc479e"/>
    <p:sldId xmlns:r="http://schemas.openxmlformats.org/officeDocument/2006/relationships" id="261" r:id="R76da0f408aed479b"/>
    <p:sldId xmlns:r="http://schemas.openxmlformats.org/officeDocument/2006/relationships" id="262" r:id="Rb8dfed1d931047d3"/>
    <p:sldId xmlns:r="http://schemas.openxmlformats.org/officeDocument/2006/relationships" id="263" r:id="R4959f1eef68d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ba3bc355b04e27" /><Relationship Type="http://schemas.openxmlformats.org/officeDocument/2006/relationships/slideMaster" Target="/ppt/slideMasters/slideMaster1.xml" Id="R3647ec157cb14408" /><Relationship Type="http://schemas.openxmlformats.org/officeDocument/2006/relationships/notesMaster" Target="/ppt/notesMasters/notesMaster1.xml" Id="Rd60876d89e384300" /><Relationship Type="http://schemas.openxmlformats.org/officeDocument/2006/relationships/presProps" Target="/ppt/presProps.xml" Id="R6fd6bce0623e4a95" /><Relationship Type="http://schemas.openxmlformats.org/officeDocument/2006/relationships/tableStyles" Target="/ppt/tableStyles.xml" Id="R79046f9f7c274582" /><Relationship Type="http://schemas.openxmlformats.org/officeDocument/2006/relationships/slide" Target="/ppt/slides/slide1.xml" Id="R71f83a3c11ad45fb" /><Relationship Type="http://schemas.openxmlformats.org/officeDocument/2006/relationships/slide" Target="/ppt/slides/slide2.xml" Id="Rfaaddc09f3264683" /><Relationship Type="http://schemas.openxmlformats.org/officeDocument/2006/relationships/slide" Target="/ppt/slides/slide3.xml" Id="Rddd917d3e1ee4497" /><Relationship Type="http://schemas.openxmlformats.org/officeDocument/2006/relationships/slide" Target="/ppt/slides/slide4.xml" Id="Rd6b98f38bc364e28" /><Relationship Type="http://schemas.openxmlformats.org/officeDocument/2006/relationships/slide" Target="/ppt/slides/slide5.xml" Id="Rbf410938adbc479e" /><Relationship Type="http://schemas.openxmlformats.org/officeDocument/2006/relationships/slide" Target="/ppt/slides/slide6.xml" Id="R76da0f408aed479b" /><Relationship Type="http://schemas.openxmlformats.org/officeDocument/2006/relationships/slide" Target="/ppt/slides/slide7.xml" Id="Rb8dfed1d931047d3" /><Relationship Type="http://schemas.openxmlformats.org/officeDocument/2006/relationships/slide" Target="/ppt/slides/slide8.xml" Id="R4959f1eef68d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abc651535b45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1a17e3daa46ed" /><Relationship Type="http://schemas.openxmlformats.org/officeDocument/2006/relationships/notesMaster" Target="/ppt/notesMasters/notesMaster1.xml" Id="Rbadd332362134a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d19b7e28a4857" /><Relationship Type="http://schemas.openxmlformats.org/officeDocument/2006/relationships/notesMaster" Target="/ppt/notesMasters/notesMaster1.xml" Id="R71dc765881c14d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3a884ca80440c4" /><Relationship Type="http://schemas.openxmlformats.org/officeDocument/2006/relationships/notesMaster" Target="/ppt/notesMasters/notesMaster1.xml" Id="R343fa38cfd61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1efb979ae1438e" /><Relationship Type="http://schemas.openxmlformats.org/officeDocument/2006/relationships/notesMaster" Target="/ppt/notesMasters/notesMaster1.xml" Id="Rc25bce87638342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538064a44c4986" /><Relationship Type="http://schemas.openxmlformats.org/officeDocument/2006/relationships/notesMaster" Target="/ppt/notesMasters/notesMaster1.xml" Id="R40d830802df94a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45e704b8414cd0" /><Relationship Type="http://schemas.openxmlformats.org/officeDocument/2006/relationships/notesMaster" Target="/ppt/notesMasters/notesMaster1.xml" Id="R52e8fcbc932948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217ed91b2c44a1" /><Relationship Type="http://schemas.openxmlformats.org/officeDocument/2006/relationships/notesMaster" Target="/ppt/notesMasters/notesMaster1.xml" Id="R443587fd671645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d20492a34f42f2" /><Relationship Type="http://schemas.openxmlformats.org/officeDocument/2006/relationships/notesMaster" Target="/ppt/notesMasters/notesMaster1.xml" Id="Ra685fc1f2a144f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MandiMatch as a hackathon prototype for planning crop sales before harvest.</a:t>
            </a:r>
          </a:p>
          <a:p xmlns:a="http://schemas.openxmlformats.org/drawingml/2006/main">
            <a:r>
              <a:t>The dashboard screenshot is a user-provided screenshot from the project. Sample values shown in the interface are demonstration data, not measured project outcomes.</a:t>
            </a:r>
          </a:p>
          <a:p xmlns:a="http://schemas.openxmlformats.org/drawingml/2006/main">
            <a:r>
              <a:t>Sources: project README.md; supplied MandiMatch dashboard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the problem this prototype is designed to address, not as quantified research findings.</a:t>
            </a:r>
          </a:p>
          <a:p xmlns:a="http://schemas.openxmlformats.org/drawingml/2006/main">
            <a:r>
              <a:t>Sources: project README.md, Product Overview; problem framing for the MandiMatch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flow: farmers and FPOs list upcoming produce, buyers post demand, the matching engine surfaces compatible pairs, and users negotiate.</a:t>
            </a:r>
          </a:p>
          <a:p xmlns:a="http://schemas.openxmlformats.org/drawingml/2006/main">
            <a:r>
              <a:t>Phone contacts are displayed after confirmation in the deal flow.</a:t>
            </a:r>
          </a:p>
          <a:p xmlns:a="http://schemas.openxmlformats.org/drawingml/2006/main">
            <a:r>
              <a:t>Sources: src/pages/BuyPage.tsx; src/pages/SellPage.tsx; src/pages/MatchesPage.tsx; src/pages/DashboardPage.tsx; server/src/modules/offers/offers.controller.ts.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score as a weighted compatibility heuristic. A higher score means the listed quantities, budgets, dates, and districts fit better; it is not a prediction of deal success.</a:t>
            </a:r>
          </a:p>
          <a:p xmlns:a="http://schemas.openxmlformats.org/drawingml/2006/main">
            <a:r>
              <a:t>Sources: src/utils/matching.ts; server/src/utils/matching.ts; README.md, How the Matching Engine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OTP verification and the marketplace fields that make terms more explicit.</a:t>
            </a:r>
          </a:p>
          <a:p xmlns:a="http://schemas.openxmlformats.org/drawingml/2006/main">
            <a:r>
              <a:t>Phone numbers are hidden until deal confirmation. Mandi price data and example commissions in the prototype are simulated; the product is not a payment or legal-contract system.</a:t>
            </a:r>
          </a:p>
          <a:p xmlns:a="http://schemas.openxmlformats.org/drawingml/2006/main">
            <a:r>
              <a:t>Sources: README.md, OTP setup and prototype disclaimer; src/pages/SignupPage.tsx; src/pages/DashboardPage.tsx; server/src/modules/offers/offers.controller.ts; README.md, Sample Commission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screenshots to show the dashboard’s offer status flow and the profile history filters.</a:t>
            </a:r>
          </a:p>
          <a:p xmlns:a="http://schemas.openxmlformats.org/drawingml/2006/main">
            <a:r>
              <a:t>The screenshots are supplied project screenshots. Any figures visible in them are sample/demo data and must not be presented as actual outcomes.</a:t>
            </a:r>
          </a:p>
          <a:p xmlns:a="http://schemas.openxmlformats.org/drawingml/2006/main">
            <a:r>
              <a:t>Sources: supplied MandiMatch dashboard and buyer-history screenshots; src/pages/DashboardPage.tsx; src/pages/ProfilePage.tsx.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KPIs, not reported results. Explain how each one connects to discovery, deal completion, value, or user trust.</a:t>
            </a:r>
          </a:p>
          <a:p xmlns:a="http://schemas.openxmlformats.org/drawingml/2006/main">
            <a:r>
              <a:t>Sources: project feature set in src/pages/DashboardPage.tsx; src/pages/MatchesPage.tsx; src/pages/ProfilePage.tsx. KPI definitions are proposed for a future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the concrete improvements added in response to feedback, then invite your mentor to challenge the pilot plan.</a:t>
            </a:r>
          </a:p>
          <a:p xmlns:a="http://schemas.openxmlformats.org/drawingml/2006/main">
            <a:r>
              <a:t>Be clear that live mandi feeds, payments, and a production deployment are not claimed as complete.</a:t>
            </a:r>
          </a:p>
          <a:p xmlns:a="http://schemas.openxmlformats.org/drawingml/2006/main">
            <a:r>
              <a:t>Sources: project history in src/pages/ProfilePage.tsx; src/pages/DashboardPage.tsx; README.md, Prototype Disclaimer and Features Requiring Additional Services for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d40aed33549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3b28b695e4e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dd32b53f949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d6e3cb08f45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25c2ecf3e49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f17c140c944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25EF0F-44CB-46FD-ACE0-560BD5A29B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F666CC-2886-445D-83A6-693060E70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F5D478-BBF9-4DFC-89EC-07181AA94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225D24-C835-4146-9AC7-4B3FD6431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F1C37F-C468-4EB3-8622-5B0D780AFA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16F8EC-2C4C-4952-803B-6C17BF25C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C86DD0-FAAE-443D-AF2B-7E2FCCD7D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E81740-34D9-4C1A-ADA5-06913695FA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992B3D-E2B5-4EF9-B4C8-9116E3B4B9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59A147-8956-490F-AFE1-D19290C509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5c453038f46a2" /><Relationship Type="http://schemas.openxmlformats.org/officeDocument/2006/relationships/slideLayout" Target="/ppt/slideLayouts/slideLayout1.xml" Id="Rf748768ae9694eff" /><Relationship Type="http://schemas.openxmlformats.org/officeDocument/2006/relationships/slideLayout" Target="/ppt/slideLayouts/slideLayout2.xml" Id="R8aaac7d3bddc4e6d" /><Relationship Type="http://schemas.openxmlformats.org/officeDocument/2006/relationships/slideLayout" Target="/ppt/slideLayouts/slideLayout3.xml" Id="Rf5f7d30bb0474fe8" /><Relationship Type="http://schemas.openxmlformats.org/officeDocument/2006/relationships/slideLayout" Target="/ppt/slideLayouts/slideLayout4.xml" Id="R70b806f4e2ac46bd" /><Relationship Type="http://schemas.openxmlformats.org/officeDocument/2006/relationships/slideLayout" Target="/ppt/slideLayouts/slideLayout5.xml" Id="Rc2812e521d154d80" /><Relationship Type="http://schemas.openxmlformats.org/officeDocument/2006/relationships/slideLayout" Target="/ppt/slideLayouts/slideLayout6.xml" Id="Rd06bde59b57d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48768ae9694eff"/>
    <p:sldLayoutId xmlns:r="http://schemas.openxmlformats.org/officeDocument/2006/relationships" id="2147483650" r:id="R8aaac7d3bddc4e6d"/>
    <p:sldLayoutId xmlns:r="http://schemas.openxmlformats.org/officeDocument/2006/relationships" id="2147483651" r:id="Rf5f7d30bb0474fe8"/>
    <p:sldLayoutId xmlns:r="http://schemas.openxmlformats.org/officeDocument/2006/relationships" id="2147483652" r:id="R70b806f4e2ac46bd"/>
    <p:sldLayoutId xmlns:r="http://schemas.openxmlformats.org/officeDocument/2006/relationships" id="2147483653" r:id="Rc2812e521d154d80"/>
    <p:sldLayoutId xmlns:r="http://schemas.openxmlformats.org/officeDocument/2006/relationships" id="2147483654" r:id="Rd06bde59b57d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9ebc4dfd34500" /><Relationship Type="http://schemas.openxmlformats.org/officeDocument/2006/relationships/image" Target="/ppt/media/image.png" Id="Rc86b144482334ad6" /><Relationship Type="http://schemas.openxmlformats.org/officeDocument/2006/relationships/notesSlide" Target="/ppt/notesSlides/notesSlide1.xml" Id="R69852d8f6451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790e405e3493b" /><Relationship Type="http://schemas.openxmlformats.org/officeDocument/2006/relationships/notesSlide" Target="/ppt/notesSlides/notesSlide2.xml" Id="Rd8d8eea81e414c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4ed3b33b3422f" /><Relationship Type="http://schemas.openxmlformats.org/officeDocument/2006/relationships/notesSlide" Target="/ppt/notesSlides/notesSlide3.xml" Id="R6b079d8243b3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e170760e64459" /><Relationship Type="http://schemas.openxmlformats.org/officeDocument/2006/relationships/notesSlide" Target="/ppt/notesSlides/notesSlide4.xml" Id="Rfadaba5b770442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c3679369f4294" /><Relationship Type="http://schemas.openxmlformats.org/officeDocument/2006/relationships/notesSlide" Target="/ppt/notesSlides/notesSlide5.xml" Id="Rfc4be343597e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40b9252ff42f0" /><Relationship Type="http://schemas.openxmlformats.org/officeDocument/2006/relationships/image" Target="/ppt/media/image2.png" Id="R00cde380105f4593" /><Relationship Type="http://schemas.openxmlformats.org/officeDocument/2006/relationships/image" Target="/ppt/media/image3.png" Id="R0867de64631940f2" /><Relationship Type="http://schemas.openxmlformats.org/officeDocument/2006/relationships/notesSlide" Target="/ppt/notesSlides/notesSlide6.xml" Id="R2fbc83c4650843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52dae3870487f" /><Relationship Type="http://schemas.openxmlformats.org/officeDocument/2006/relationships/notesSlide" Target="/ppt/notesSlides/notesSlide7.xml" Id="Rdb006d4b70514c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5b0d1480147b9" /><Relationship Type="http://schemas.openxmlformats.org/officeDocument/2006/relationships/notesSlide" Target="/ppt/notesSlides/notesSlide8.xml" Id="R7e8413e538d642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D56EE-91BE-4115-A636-1553133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D0488-801D-4A49-905C-7F7653FA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MandiMatch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1A7C3-04F5-441D-AF2B-E920B2FC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Know your buyer and price</a:t>
            </a:r>
          </a:p>
          <a:p xmlns:a="http://schemas.openxmlformats.org/drawingml/2006/main">
            <a:pPr algn="l">
              <a:defRPr sz="262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before harvest.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7250F-F057-4A42-A182-8766AA4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A pre-harvest marketplace connecting farmers, FPOs, and produce buyers.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314C1-E6F5-49BA-BAC5-D1CC3C14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DB4A5"/>
                </a:solidFill>
                <a:latin typeface="Aptos"/>
                <a:ea typeface="Aptos"/>
                <a:cs typeface="Aptos"/>
              </a:rPr>
              <a:t>Mentor presentation  ·  Hackathon prototype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DE135-7AFE-4B8F-8AB6-4745D4272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b144482334ad6"/>
          <a:srcRect xmlns:a="http://schemas.openxmlformats.org/drawingml/2006/main" l="8378" t="0" r="8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942975"/>
            <a:ext cx="5572125" cy="4381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D5FE8-737C-4F7A-8FAF-880D7502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48300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Interface shown with sample demo data</a:t>
            </a:r>
          </a:p>
        </p:txBody>
      </p:sp>
    </p:spTree>
    <p:extLst>
      <p:ext uri="{BB962C8B-B14F-4D97-AF65-F5344CB8AC3E}">
        <p14:creationId xmlns:p14="http://schemas.microsoft.com/office/powerpoint/2010/main" val="994117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0014B-F8CE-452B-92D2-8661E52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PROBLEM UNDERSTANDING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F5820-A1B8-49AD-A660-D323421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The marketplace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6DF67-4914-4FF0-A5FF-67FA6E85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81F76-E596-4918-89B6-E6FC1DAB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3E85B-9FDD-4716-9164-B4D2E15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Farmers and buyers need a clearer way to find one another and agree on a 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06509-5388-4543-9DC4-2209A0CE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BB218-A6F2-48FC-9692-420D3A10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Supply is hard to 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69764-F2B0-416E-848D-033DDE44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241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A buyer may not know which nearby farms have the crop and quantity they need.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29324-881D-4ABA-A166-EAC21D23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04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DD1D5-00F2-4586-87D4-C0BBA024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FFB79-3520-4032-83A9-8199961F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2430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Price and timing are uncertain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D0644-148F-4A03-85AC-7787446C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338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Harvest dates, delivery windows, and price expectations can miss one another.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CF008-A1C5-47A0-BD27-6BFCE922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425F6-0ACB-4412-A117-C4D13B8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FB35A-AB7D-41A6-A943-0E805FF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Agreement takes coordination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88AAD-1971-4207-9717-16C9F36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434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Offers, counteroffers, and order status need a shared, understandable 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A93B4-FB4B-4653-96A2-2B48AA6A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focuses on discovery and deal coordination; it does not guarantee a sale or a market price.</a:t>
            </a:r>
          </a:p>
        </p:txBody>
      </p:sp>
    </p:spTree>
    <p:extLst>
      <p:ext uri="{BB962C8B-B14F-4D97-AF65-F5344CB8AC3E}">
        <p14:creationId xmlns:p14="http://schemas.microsoft.com/office/powerpoint/2010/main" val="297240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6725AB-B3FC-4F62-83BB-27471515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D3B4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82BED-9037-491D-A7AB-46BBA9B5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workflow from crop plan to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610A7-E315-4C14-8CFA-179E75C5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DE2F3-3860-4941-8BEB-745C43E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9A0"/>
                </a:solidFill>
                <a:latin typeface="Aptos"/>
                <a:ea typeface="Aptos"/>
                <a:cs typeface="Aptos"/>
              </a:rPr>
              <a:t>MANDIMATCH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2FE55-B651-4F0F-B26B-25B7485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Both sides describe what they can offer or need. MandiMatch helps them move toward a confirmed 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99552-F90F-464F-AA72-864E1317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F9159-1A08-43A6-85A1-47128D4D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Farmer / FPO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564E0-26FD-4B58-8D1E-73A4B5A4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Post crop, quantity, grade, price, location, harvest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2C9E2-FFDC-4C89-84D8-FB67A63E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E856F-477E-495B-B566-94CE3B50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58658-73C9-47B4-988B-6FF571F1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5855B-B0FE-4A89-A330-4D2368C2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Post crop, quantity, budget, location, delivery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DDEFF-CA6F-4FF0-8550-2611B8F2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6969E-F4FF-4BF0-9903-F07B15B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35EEE-4FED-4C69-9F2F-53F0D8D7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76287-3CC5-420F-9C94-37512E0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Compare crop, quantity, price, dates, and district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98978-1F65-4FEB-A0E2-96B91E8C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CFC11-AAC8-4173-91B8-FD1BA013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CDE59-5C5E-4AF8-BFB9-E7FCC577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Negotiate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CA135-2694-47B1-98C3-E1BC7C75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Send an offer, respond, or counteroffer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92894-72E9-418E-BB12-D27851D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702D6-2457-45FF-9488-AF6918D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32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32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EA90D-5EE3-4E18-B145-F98C97AD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09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6A55D-CB2D-4669-979C-36C549D5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671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8C9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9BE"/>
                </a:solidFill>
                <a:latin typeface="Aptos"/>
                <a:ea typeface="Aptos"/>
                <a:cs typeface="Aptos"/>
              </a:rPr>
              <a:t>Confirm the deal; contact details become available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C6196-3415-4B9D-AF8D-3382152B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846"/>
          </a:solidFill>
          <a:ln xmlns:a="http://schemas.openxmlformats.org/drawingml/2006/main" w="0">
            <a:solidFill>
              <a:srgbClr val="3658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FEA87-2DC6-42E0-923A-98CE6FD7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A contact number is shared only after the offer is accepted and a deal is confirmed.</a:t>
            </a:r>
          </a:p>
        </p:txBody>
      </p:sp>
    </p:spTree>
    <p:extLst>
      <p:ext uri="{BB962C8B-B14F-4D97-AF65-F5344CB8AC3E}">
        <p14:creationId xmlns:p14="http://schemas.microsoft.com/office/powerpoint/2010/main" val="523128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1E019-511E-41F7-91EF-D9604B65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TECHNICAL IMPLEMENTATION AND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4134B-C54B-415D-A88B-73C88D64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Matching weighs fit, not just crop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4F208-EAAD-4DA4-9C9A-1067F892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A7ECF-A15C-48D5-8B4A-F39AC4C7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58F61-B7EF-4AD7-AC06-F6603A09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A match score combines four practical signals: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A585B-FF54-4B0F-AA14-28BD36A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55903-DB88-46E5-AF80-CE379DB5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812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Quantity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9B79A-FEE9-4EA2-AFC4-F9453BC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Can the available lot cover the buyer’s need?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A7320-6892-405B-8485-2ED183F8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24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2595D-9621-4DE1-AD07-D2C4D70A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A7229-B851-469A-A6AA-D8A6BD00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004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Price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84989-271B-4719-B14D-C552ACAB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Does the ask fit within the buyer’s budget?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A5099-3E42-4AA2-AB31-09C47624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433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2D04C-2297-48DB-9EB5-E125C5F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15211-64F7-4FBA-AF02-B2DAE292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195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Date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9D196-CA49-44CA-AB66-E5164FF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Do harvest and delivery dates line up?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20BC5-4C57-4DC9-883B-ACEB823A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F2A7B-0B20-4566-B40F-0C0A0FEF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0FA0D-38BB-4D9F-B0C5-FDB0C48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387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District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13035-ED13-44B2-8365-EF4234B9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48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How close are the listed locations?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CA1B5-7FC8-47DC-9AFA-4D7F5885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Eligible crop pairs score from 0–100; the prototype displays matches from 35 upward.</a:t>
            </a:r>
          </a:p>
        </p:txBody>
      </p:sp>
    </p:spTree>
    <p:extLst>
      <p:ext uri="{BB962C8B-B14F-4D97-AF65-F5344CB8AC3E}">
        <p14:creationId xmlns:p14="http://schemas.microsoft.com/office/powerpoint/2010/main" val="858855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6A083-DA1C-4CCF-BC86-10378629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D3B4"/>
                </a:solidFill>
                <a:latin typeface="Aptos"/>
                <a:ea typeface="Aptos"/>
                <a:cs typeface="Aptos"/>
              </a:rPr>
              <a:t>INNOVATION AND PRACTICAL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64676-4D68-41F9-B50E-4612C252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Clearer terms and a safer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24028-83AC-4BEB-B92F-4F497C62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37F6E-FFB9-42BB-8E64-D4CB5E67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9A0"/>
                </a:solidFill>
                <a:latin typeface="Aptos"/>
                <a:ea typeface="Aptos"/>
                <a:cs typeface="Aptos"/>
              </a:rPr>
              <a:t>MANDIMATCH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3F6CE-DAD5-48A5-852E-97B3A13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Before confirmation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21170-6369-4B19-A761-C73D05F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OTP-verified mobile sign-up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Crop, quantity, grade, dates, and location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Offers and counteroffers stay in a visible history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Mandi price references are labelled as simulated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4C871-3805-4251-8132-1D8EF76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38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82705-8E8A-4C4B-B03E-147CD1F4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After 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782EB-2A2F-4CE4-810F-6CA1C614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Both participants can see a call button for the other party. The contact is released only after the deal is accepted.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F2670-F438-4A33-9491-8A98FCC0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9DB4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DB4A5"/>
                </a:solidFill>
                <a:latin typeface="Aptos"/>
                <a:ea typeface="Aptos"/>
                <a:cs typeface="Aptos"/>
              </a:rPr>
              <a:t>Illustrative example from the project README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18BDD-7193-41D6-9688-1CAC716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 q × ₹2,200/q = ₹55,000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Estimated 2.5% fee = ₹1,375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2EB65-CF8C-401E-8D59-9A8FA0EC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864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9DB4A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DB4A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DB4A5"/>
                </a:solidFill>
                <a:latin typeface="Aptos"/>
                <a:ea typeface="Aptos"/>
                <a:cs typeface="Aptos"/>
              </a:rPr>
              <a:t>The example is simulated; it is not a live quote or a charged fee.</a:t>
            </a:r>
          </a:p>
        </p:txBody>
      </p:sp>
    </p:spTree>
    <p:extLst>
      <p:ext uri="{BB962C8B-B14F-4D97-AF65-F5344CB8AC3E}">
        <p14:creationId xmlns:p14="http://schemas.microsoft.com/office/powerpoint/2010/main" val="1047620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496E2-5DCD-48FD-A1E4-B99AE1D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PRODUCT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84EAC-05E2-4D40-A6DB-3C6B255C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The product in the user’s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25371-3F98-463E-A0B9-24727DF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EA893-6F3A-4E24-8D0B-0243991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B604D-02CD-4DB4-B02D-64DBA5EAB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de380105f4593"/>
          <a:srcRect xmlns:a="http://schemas.openxmlformats.org/drawingml/2006/main" l="0" t="3077" r="0" b="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47850"/>
            <a:ext cx="6667500" cy="4095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031C1-03AF-4C89-AD35-FE1302188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7de64631940f2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2133600"/>
            <a:ext cx="3771900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A9A28-7AEA-4D22-9716-6629CDF7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Deal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D43B5-1959-42BF-8F02-EC2B736D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46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The dashboard brings listings, response needs, volume, and offers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EF46C-52B3-4467-924E-7F408881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768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Profile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1927-B4E8-4E35-929B-322D600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19750"/>
            <a:ext cx="346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Active and completed posts remain visible to the account owner.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41B35-75B5-4D12-A16E-F2EABD9E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Screenshots show prototype UI; displayed account and deal values are sample data.</a:t>
            </a:r>
          </a:p>
        </p:txBody>
      </p:sp>
    </p:spTree>
    <p:extLst>
      <p:ext uri="{BB962C8B-B14F-4D97-AF65-F5344CB8AC3E}">
        <p14:creationId xmlns:p14="http://schemas.microsoft.com/office/powerpoint/2010/main" val="137443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9AE69-E08E-4090-AA8E-0A3389DD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KPIS AND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24DB7-8D48-43F2-BD5F-00297324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KPIs for a real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0A401-8C24-40FF-81A9-DC806EE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52CD7-905A-4FFE-B2AD-01E85544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63"/>
                </a:solidFill>
                <a:latin typeface="Aptos"/>
                <a:ea typeface="Aptos"/>
                <a:cs typeface="Aptos"/>
              </a:rPr>
              <a:t>MANDIMATCH  ·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32AC1-3B36-4295-8C9F-F27630F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Track outcomes after real farmers and buyers use the marketplace. No live pilot results are claimed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48AB3-DB93-46A3-921C-1E89C7A8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47B19-31A6-4AEA-B302-D431E640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Active listings and buyer 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B5BEF-FE11-4F03-B769-B277B8E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Eligible posts that receive a relevant 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5949C-DF42-4049-ABA4-25FDA578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1C7B2-4450-40B4-8554-F8EE473F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E435F-FD9A-4F51-8ED0-00DAA4B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Offers sent and deals confirmed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6BF20-06EA-4DA3-A1F0-CAC9EEE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Offer acceptance rate; median time to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DE35D-FBF4-44C7-B74F-C99EAE2F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719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1A889-BA43-4C1A-AFFD-156A69C1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TRADE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83E5C-B3A9-4DFC-A601-27A15D1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Confirmed quintals traded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497D6-AA41-4F46-A6FD-FAF690A7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Agreed deal value, reported in 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75C2D-4430-42DB-A977-4C3C9215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05010-C018-4269-AB95-C446347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9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8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45A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8532E-7757-4311-B58B-28D0EF77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Verified contact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5962F-EB02-4DA2-A2DE-44F940A0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3"/>
                </a:solidFill>
                <a:latin typeface="Aptos"/>
                <a:ea typeface="Aptos"/>
                <a:cs typeface="Aptos"/>
              </a:rPr>
              <a:t>Review completion and post-deal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5064F-2DF3-4632-B127-499A6111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38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8"/>
          </a:solidFill>
          <a:ln xmlns:a="http://schemas.openxmlformats.org/drawingml/2006/main" w="0">
            <a:solidFill>
              <a:srgbClr val="D8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3CFF5-E7C5-4183-A007-FC538F2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3D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3D2B"/>
                </a:solidFill>
                <a:latin typeface="Aptos"/>
                <a:ea typeface="Aptos"/>
                <a:cs typeface="Aptos"/>
              </a:rPr>
              <a:t>Baseline → pilot → compare by role, crop, and district</a:t>
            </a:r>
          </a:p>
        </p:txBody>
      </p:sp>
    </p:spTree>
    <p:extLst>
      <p:ext uri="{BB962C8B-B14F-4D97-AF65-F5344CB8AC3E}">
        <p14:creationId xmlns:p14="http://schemas.microsoft.com/office/powerpoint/2010/main" val="1960405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93FE7-A562-4483-AA19-FE02F1CD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CD3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CD3B4"/>
                </a:solidFill>
                <a:latin typeface="Aptos"/>
                <a:ea typeface="Aptos"/>
                <a:cs typeface="Aptos"/>
              </a:rPr>
              <a:t>EDUCATION AND RESPONSE TO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F8E3-1F83-4AC0-AB96-A5C1AB74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shaped the next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A9908-ED39-433E-8ED7-104394A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AF98C-091C-4395-9A6B-DD0F0DEE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AA9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9A0"/>
                </a:solidFill>
                <a:latin typeface="Aptos"/>
                <a:ea typeface="Aptos"/>
                <a:cs typeface="Aptos"/>
              </a:rPr>
              <a:t>MANDIMATCH  ·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74818-3D8B-4EE4-AD4D-3B93522E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Changes made from user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C9F25-A373-436E-B113-581BAF3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Active and completed profile history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Clearer “waiting for your response” offer links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Contact buttons after deal confirmation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C6D5CC"/>
                </a:solidFill>
                <a:latin typeface="Aptos"/>
                <a:ea typeface="Aptos"/>
                <a:cs typeface="Aptos"/>
              </a:rPr>
              <a:t>Crop grade and dated listing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3CC25-1C2E-411E-A2A3-3E2FF20A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381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23"/>
          </a:solidFill>
          <a:ln xmlns:a="http://schemas.openxmlformats.org/drawingml/2006/main" w="0">
            <a:solidFill>
              <a:srgbClr val="F0B32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95404-F073-4BA6-977C-60930C79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DEBE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DEBE0"/>
                </a:solidFill>
                <a:latin typeface="Aptos"/>
                <a:ea typeface="Aptos"/>
                <a:cs typeface="Aptos"/>
              </a:rPr>
              <a:t>What I want to learn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68390-4A47-4784-9903-B74BFDA5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76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Can nearby users find a useful match?</a:t>
            </a:r>
          </a:p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Which part of negotiation causes delay?</a:t>
            </a:r>
          </a:p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What price and transport details are missing?</a:t>
            </a:r>
          </a:p>
          <a:p xmlns:a="http://schemas.openxmlformats.org/drawingml/2006/main">
            <a:pPr algn="l">
              <a:defRPr sz="1500" b="0">
                <a:solidFill>
                  <a:srgbClr val="C6D5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5CC"/>
                </a:solidFill>
                <a:latin typeface="Aptos"/>
                <a:ea typeface="Aptos"/>
                <a:cs typeface="Aptos"/>
              </a:rPr>
              <a:t>• Do users trust the confirmation and contact flow?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DC3BB-AD84-4CDE-AC0A-E2B9745F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2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step: run a small farmer–buyer pilot, record the KPIs, and use feedback to prioritize live data and production needs.</a:t>
            </a:r>
          </a:p>
        </p:txBody>
      </p:sp>
    </p:spTree>
    <p:extLst>
      <p:ext uri="{BB962C8B-B14F-4D97-AF65-F5344CB8AC3E}">
        <p14:creationId xmlns:p14="http://schemas.microsoft.com/office/powerpoint/2010/main" val="1410028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2026-10-11T05:49:41.6490000Z</dcterms:created>
  <dcterms:modified xsi:type="dcterms:W3CDTF">2026-10-11T05:49:41.6490000Z</dcterms:modified>
</coreProperties>
</file>