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7f33cce8504415" /><Relationship Type="http://schemas.openxmlformats.org/officeDocument/2006/relationships/extended-properties" Target="/docProps/app.xml" Id="Re09dc563a10348c2" /><Relationship Type="http://schemas.openxmlformats.org/officeDocument/2006/relationships/officeDocument" Target="/ppt/presentation.xml" Id="Rc96dc2323aa449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35d68ed5714952"/>
  </p:sldMasterIdLst>
  <p:notesMasterIdLst>
    <p:notesMasterId xmlns:r="http://schemas.openxmlformats.org/officeDocument/2006/relationships" r:id="Rb185fcdbd8374d18"/>
  </p:notesMasterIdLst>
  <p:sldIdLst>
    <p:sldId xmlns:r="http://schemas.openxmlformats.org/officeDocument/2006/relationships" id="256" r:id="R202ebf1ebd8c4fca"/>
    <p:sldId xmlns:r="http://schemas.openxmlformats.org/officeDocument/2006/relationships" id="257" r:id="R994f403843c34ae1"/>
    <p:sldId xmlns:r="http://schemas.openxmlformats.org/officeDocument/2006/relationships" id="258" r:id="Rd2a46d3bcad34022"/>
    <p:sldId xmlns:r="http://schemas.openxmlformats.org/officeDocument/2006/relationships" id="259" r:id="R7827dc0cc2044763"/>
    <p:sldId xmlns:r="http://schemas.openxmlformats.org/officeDocument/2006/relationships" id="260" r:id="R139ed784afd74e04"/>
    <p:sldId xmlns:r="http://schemas.openxmlformats.org/officeDocument/2006/relationships" id="261" r:id="R0625e0211cb847af"/>
    <p:sldId xmlns:r="http://schemas.openxmlformats.org/officeDocument/2006/relationships" id="262" r:id="R6790a967208e4f6c"/>
    <p:sldId xmlns:r="http://schemas.openxmlformats.org/officeDocument/2006/relationships" id="263" r:id="R200ec27ded9d4d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09c3f72f8e4fbd" /><Relationship Type="http://schemas.openxmlformats.org/officeDocument/2006/relationships/slideMaster" Target="/ppt/slideMasters/slideMaster1.xml" Id="Raa35d68ed5714952" /><Relationship Type="http://schemas.openxmlformats.org/officeDocument/2006/relationships/notesMaster" Target="/ppt/notesMasters/notesMaster1.xml" Id="Rb185fcdbd8374d18" /><Relationship Type="http://schemas.openxmlformats.org/officeDocument/2006/relationships/presProps" Target="/ppt/presProps.xml" Id="Rfa20415aa5614df8" /><Relationship Type="http://schemas.openxmlformats.org/officeDocument/2006/relationships/tableStyles" Target="/ppt/tableStyles.xml" Id="Re49d41295c224385" /><Relationship Type="http://schemas.openxmlformats.org/officeDocument/2006/relationships/slide" Target="/ppt/slides/slide1.xml" Id="R202ebf1ebd8c4fca" /><Relationship Type="http://schemas.openxmlformats.org/officeDocument/2006/relationships/slide" Target="/ppt/slides/slide2.xml" Id="R994f403843c34ae1" /><Relationship Type="http://schemas.openxmlformats.org/officeDocument/2006/relationships/slide" Target="/ppt/slides/slide3.xml" Id="Rd2a46d3bcad34022" /><Relationship Type="http://schemas.openxmlformats.org/officeDocument/2006/relationships/slide" Target="/ppt/slides/slide4.xml" Id="R7827dc0cc2044763" /><Relationship Type="http://schemas.openxmlformats.org/officeDocument/2006/relationships/slide" Target="/ppt/slides/slide5.xml" Id="R139ed784afd74e04" /><Relationship Type="http://schemas.openxmlformats.org/officeDocument/2006/relationships/slide" Target="/ppt/slides/slide6.xml" Id="R0625e0211cb847af" /><Relationship Type="http://schemas.openxmlformats.org/officeDocument/2006/relationships/slide" Target="/ppt/slides/slide7.xml" Id="R6790a967208e4f6c" /><Relationship Type="http://schemas.openxmlformats.org/officeDocument/2006/relationships/slide" Target="/ppt/slides/slide8.xml" Id="R200ec27ded9d4d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a7ebb375bf4d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47f1bd4cc44858" /><Relationship Type="http://schemas.openxmlformats.org/officeDocument/2006/relationships/notesMaster" Target="/ppt/notesMasters/notesMaster1.xml" Id="Ra260fca40e0e41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721902686f4746" /><Relationship Type="http://schemas.openxmlformats.org/officeDocument/2006/relationships/notesMaster" Target="/ppt/notesMasters/notesMaster1.xml" Id="Rae6bbba5af5442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ab6e71aa77472f" /><Relationship Type="http://schemas.openxmlformats.org/officeDocument/2006/relationships/notesMaster" Target="/ppt/notesMasters/notesMaster1.xml" Id="Re113613f4ea549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12206146e34c74" /><Relationship Type="http://schemas.openxmlformats.org/officeDocument/2006/relationships/notesMaster" Target="/ppt/notesMasters/notesMaster1.xml" Id="R07e5901b200940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eba0640ab84f84" /><Relationship Type="http://schemas.openxmlformats.org/officeDocument/2006/relationships/notesMaster" Target="/ppt/notesMasters/notesMaster1.xml" Id="Rd83d75074dae4b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556455be9c4986" /><Relationship Type="http://schemas.openxmlformats.org/officeDocument/2006/relationships/notesMaster" Target="/ppt/notesMasters/notesMaster1.xml" Id="R2d3cd6eb51a94e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df4ca70ac541c0" /><Relationship Type="http://schemas.openxmlformats.org/officeDocument/2006/relationships/notesMaster" Target="/ppt/notesMasters/notesMaster1.xml" Id="R5642ec657cad49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f8b474d4494f6b" /><Relationship Type="http://schemas.openxmlformats.org/officeDocument/2006/relationships/notesMaster" Target="/ppt/notesMasters/notesMaster1.xml" Id="R82a5a29c116540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MandiMatch as a hackathon prototype for planning crop sales before harvest.</a:t>
            </a:r>
          </a:p>
          <a:p xmlns:a="http://schemas.openxmlformats.org/drawingml/2006/main">
            <a:r>
              <a:t>The dashboard screenshot is a user-provided screenshot from the project. Sample values shown in the interface are demonstration data, not measured project outcomes.</a:t>
            </a:r>
          </a:p>
          <a:p xmlns:a="http://schemas.openxmlformats.org/drawingml/2006/main">
            <a:r>
              <a:t>Sources: project README.md; supplied MandiMatch dashboard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these as the problem this prototype is designed to address, not as quantified research findings.</a:t>
            </a:r>
          </a:p>
          <a:p xmlns:a="http://schemas.openxmlformats.org/drawingml/2006/main">
            <a:r>
              <a:t>Sources: project README.md, Product Overview; problem framing for the MandiMatch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flow: farmers and FPOs list upcoming produce, buyers post demand, the matching engine surfaces compatible pairs, and users negotiate.</a:t>
            </a:r>
          </a:p>
          <a:p xmlns:a="http://schemas.openxmlformats.org/drawingml/2006/main">
            <a:r>
              <a:t>Phone contacts are displayed after confirmation in the deal flow.</a:t>
            </a:r>
          </a:p>
          <a:p xmlns:a="http://schemas.openxmlformats.org/drawingml/2006/main">
            <a:r>
              <a:t>Sources: src/pages/BuyPage.tsx; src/pages/SellPage.tsx; src/pages/MatchesPage.tsx; src/pages/DashboardPage.tsx; server/src/modules/offers/offers.controller.ts.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score as a weighted compatibility heuristic. A higher score means the listed quantities, budgets, dates, and districts fit better; it is not a prediction of deal success.</a:t>
            </a:r>
          </a:p>
          <a:p xmlns:a="http://schemas.openxmlformats.org/drawingml/2006/main">
            <a:r>
              <a:t>Sources: src/utils/matching.ts; server/src/utils/matching.ts; README.md, How the Matching Engine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OTP verification and the marketplace fields that make terms more explicit.</a:t>
            </a:r>
          </a:p>
          <a:p xmlns:a="http://schemas.openxmlformats.org/drawingml/2006/main">
            <a:r>
              <a:t>Phone numbers are hidden until deal confirmation. Mandi price data and example commissions in the prototype are simulated; the product is not a payment or legal-contract system.</a:t>
            </a:r>
          </a:p>
          <a:p xmlns:a="http://schemas.openxmlformats.org/drawingml/2006/main">
            <a:r>
              <a:t>Sources: README.md, OTP setup and prototype disclaimer; src/pages/SignupPage.tsx; src/pages/DashboardPage.tsx; server/src/modules/offers/offers.controller.ts; README.md, Sample Commission Calculation.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screenshots to show the dashboard’s offer status flow and the profile history filters.</a:t>
            </a:r>
          </a:p>
          <a:p xmlns:a="http://schemas.openxmlformats.org/drawingml/2006/main">
            <a:r>
              <a:t>The screenshots are supplied project screenshots. Any figures visible in them are sample/demo data and must not be presented as actual outcomes.</a:t>
            </a:r>
          </a:p>
          <a:p xmlns:a="http://schemas.openxmlformats.org/drawingml/2006/main">
            <a:r>
              <a:t>Sources: supplied MandiMatch dashboard and buyer-history screenshots; src/pages/DashboardPage.tsx; src/pages/ProfilePage.tsx.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proposed KPIs, not reported results. Explain how each one connects to discovery, deal completion, value, or user trust.</a:t>
            </a:r>
          </a:p>
          <a:p xmlns:a="http://schemas.openxmlformats.org/drawingml/2006/main">
            <a:r>
              <a:t>Sources: project feature set in src/pages/DashboardPage.tsx; src/pages/MatchesPage.tsx; src/pages/ProfilePage.tsx. KPI definitions are proposed for a future pilot.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Share the concrete improvements added in response to feedback, then invite your mentor to challenge the pilot plan.</a:t>
            </a:r>
          </a:p>
          <a:p xmlns:a="http://schemas.openxmlformats.org/drawingml/2006/main">
            <a:r>
              <a:t>Be clear that live mandi feeds, payments, and a production deployment are not claimed as complete.</a:t>
            </a:r>
          </a:p>
          <a:p xmlns:a="http://schemas.openxmlformats.org/drawingml/2006/main">
            <a:r>
              <a:t>Sources: project history in src/pages/ProfilePage.tsx; src/pages/DashboardPage.tsx; README.md, Prototype Disclaimer and Features Requiring Additional Services for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74294b2f8644b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b9ed4c5bb740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356b65edfe41e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8a853f32684e6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27673c5b8b43c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1821149b804d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633A9B-D2D8-4320-8BC4-AD5885B7C4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506974E-CC68-4B28-8D75-133F8A62E3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43AC37C-43EF-494E-8A86-17F3ED00C1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2AB956-E9C2-48E7-8F82-006E558DB1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D6F55D0-F22D-4815-90AA-A31B09136E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D92C670-C64D-4477-9B47-A31F5E710B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82399C-C023-4EE1-8B58-CBD14BF2BF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A8D8F8E-B761-4833-B108-41AB86A406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C5846E-D00D-42E3-AF7D-7DB6B34BF3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1BB440-09C2-4AC0-BA62-B4C0D98016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131e1bf82444ab" /><Relationship Type="http://schemas.openxmlformats.org/officeDocument/2006/relationships/slideLayout" Target="/ppt/slideLayouts/slideLayout1.xml" Id="Raadc592d41ce407f" /><Relationship Type="http://schemas.openxmlformats.org/officeDocument/2006/relationships/slideLayout" Target="/ppt/slideLayouts/slideLayout2.xml" Id="R3857112fa78944dc" /><Relationship Type="http://schemas.openxmlformats.org/officeDocument/2006/relationships/slideLayout" Target="/ppt/slideLayouts/slideLayout3.xml" Id="R0e644e1b2d5749fe" /><Relationship Type="http://schemas.openxmlformats.org/officeDocument/2006/relationships/slideLayout" Target="/ppt/slideLayouts/slideLayout4.xml" Id="R7a29826a4f2d49f9" /><Relationship Type="http://schemas.openxmlformats.org/officeDocument/2006/relationships/slideLayout" Target="/ppt/slideLayouts/slideLayout5.xml" Id="Rc2f1d38fea494a07" /><Relationship Type="http://schemas.openxmlformats.org/officeDocument/2006/relationships/slideLayout" Target="/ppt/slideLayouts/slideLayout6.xml" Id="Rfc4e74addc4342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dc592d41ce407f"/>
    <p:sldLayoutId xmlns:r="http://schemas.openxmlformats.org/officeDocument/2006/relationships" id="2147483650" r:id="R3857112fa78944dc"/>
    <p:sldLayoutId xmlns:r="http://schemas.openxmlformats.org/officeDocument/2006/relationships" id="2147483651" r:id="R0e644e1b2d5749fe"/>
    <p:sldLayoutId xmlns:r="http://schemas.openxmlformats.org/officeDocument/2006/relationships" id="2147483652" r:id="R7a29826a4f2d49f9"/>
    <p:sldLayoutId xmlns:r="http://schemas.openxmlformats.org/officeDocument/2006/relationships" id="2147483653" r:id="Rc2f1d38fea494a07"/>
    <p:sldLayoutId xmlns:r="http://schemas.openxmlformats.org/officeDocument/2006/relationships" id="2147483654" r:id="Rfc4e74addc4342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07763177ca4126" /><Relationship Type="http://schemas.openxmlformats.org/officeDocument/2006/relationships/image" Target="/ppt/media/image.png" Id="R3d753928164a4f9a" /><Relationship Type="http://schemas.openxmlformats.org/officeDocument/2006/relationships/notesSlide" Target="/ppt/notesSlides/notesSlide1.xml" Id="Re50c80a890f24a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f4105ceb674331" /><Relationship Type="http://schemas.openxmlformats.org/officeDocument/2006/relationships/notesSlide" Target="/ppt/notesSlides/notesSlide2.xml" Id="R0af2a17d932440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c68a1387774570" /><Relationship Type="http://schemas.openxmlformats.org/officeDocument/2006/relationships/notesSlide" Target="/ppt/notesSlides/notesSlide3.xml" Id="R570631c69bc94b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3650a9b2224cae" /><Relationship Type="http://schemas.openxmlformats.org/officeDocument/2006/relationships/notesSlide" Target="/ppt/notesSlides/notesSlide4.xml" Id="R1443dbe60ee14c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bf72a9bc634c46" /><Relationship Type="http://schemas.openxmlformats.org/officeDocument/2006/relationships/notesSlide" Target="/ppt/notesSlides/notesSlide5.xml" Id="R8b2fce04e20f40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fe57266d5d4cef" /><Relationship Type="http://schemas.openxmlformats.org/officeDocument/2006/relationships/image" Target="/ppt/media/image2.png" Id="R25bcc33db6d848a5" /><Relationship Type="http://schemas.openxmlformats.org/officeDocument/2006/relationships/image" Target="/ppt/media/image3.png" Id="R4bbc399c9f134e6c" /><Relationship Type="http://schemas.openxmlformats.org/officeDocument/2006/relationships/notesSlide" Target="/ppt/notesSlides/notesSlide6.xml" Id="R9eccfdd170b441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b1a73ca4434754" /><Relationship Type="http://schemas.openxmlformats.org/officeDocument/2006/relationships/notesSlide" Target="/ppt/notesSlides/notesSlide7.xml" Id="R15d25d1605c048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495fa0e41e4ee1" /><Relationship Type="http://schemas.openxmlformats.org/officeDocument/2006/relationships/notesSlide" Target="/ppt/notesSlides/notesSlide8.xml" Id="R444768372a144c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3C0C2-4C2A-4AA9-AB16-70DDD976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23"/>
          </a:solidFill>
          <a:ln xmlns:a="http://schemas.openxmlformats.org/drawingml/2006/main" w="0">
            <a:solidFill>
              <a:srgbClr val="F0B32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1801C-C6C9-4369-BC14-F80691B0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MandiMatch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CBEE5-7D6A-4F75-AAE1-1BBF0FCB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905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DEBE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DEBE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DDEBE0"/>
                </a:solidFill>
                <a:latin typeface="Aptos"/>
                <a:ea typeface="Aptos"/>
                <a:cs typeface="Aptos"/>
              </a:rPr>
              <a:t>Know your buyer and price</a:t>
            </a:r>
          </a:p>
          <a:p xmlns:a="http://schemas.openxmlformats.org/drawingml/2006/main">
            <a:pPr algn="l">
              <a:defRPr sz="2625" b="1">
                <a:solidFill>
                  <a:srgbClr val="DDEBE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DDEBE0"/>
                </a:solidFill>
                <a:latin typeface="Aptos"/>
                <a:ea typeface="Aptos"/>
                <a:cs typeface="Aptos"/>
              </a:rPr>
              <a:t>before harvest.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8768E-60C6-4500-903F-357E764F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8617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8C9BE"/>
                </a:solidFill>
                <a:latin typeface="Aptos"/>
                <a:ea typeface="Aptos"/>
                <a:cs typeface="Aptos"/>
              </a:rPr>
              <a:t>A pre-harvest marketplace connecting farmers, FPOs, and produce buyers.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2E4F1-6E9B-47B2-838C-0AD8E4DE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9DB4A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9DB4A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DB4A5"/>
                </a:solidFill>
                <a:latin typeface="Aptos"/>
                <a:ea typeface="Aptos"/>
                <a:cs typeface="Aptos"/>
              </a:rPr>
              <a:t>Mentor presentation  ·  Hackathon prototype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215BA-0AF1-4EEB-944E-717B996734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53928164a4f9a"/>
          <a:srcRect xmlns:a="http://schemas.openxmlformats.org/drawingml/2006/main" l="8378" t="0" r="8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942975"/>
            <a:ext cx="5572125" cy="4381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212A4-5264-4E68-8B03-8476DFD4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448300"/>
            <a:ext cx="557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8C9BE"/>
                </a:solidFill>
                <a:latin typeface="Aptos"/>
                <a:ea typeface="Aptos"/>
                <a:cs typeface="Aptos"/>
              </a:rPr>
              <a:t>Interface shown with sample demo data</a:t>
            </a:r>
          </a:p>
        </p:txBody>
      </p:sp>
    </p:spTree>
    <p:extLst>
      <p:ext uri="{BB962C8B-B14F-4D97-AF65-F5344CB8AC3E}">
        <p14:creationId xmlns:p14="http://schemas.microsoft.com/office/powerpoint/2010/main" val="1321563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7FD9CD-5F63-4CCC-B05F-07AA4731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PROBLEM UNDERSTANDING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A2E07-39B9-4168-A6E6-A0208BC9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The marketplace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302B4-73F7-478F-B1FC-0C83818A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23"/>
          </a:solidFill>
          <a:ln xmlns:a="http://schemas.openxmlformats.org/drawingml/2006/main" w="0">
            <a:solidFill>
              <a:srgbClr val="F0B32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A73A3-E5CC-4549-873C-3F80CB0E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63"/>
                </a:solidFill>
                <a:latin typeface="Aptos"/>
                <a:ea typeface="Aptos"/>
                <a:cs typeface="Aptos"/>
              </a:rPr>
              <a:t>MANDIMATCH  ·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D379B-4DD4-4237-9034-F92ADEC2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Farmers and buyers need a clearer way to find one another and agree on a deal.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03552-03F0-4647-97FF-9D572E61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8D769-0AC1-4EBB-A3D8-02C66F40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14650"/>
            <a:ext cx="4000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Supply is hard to discover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0E343-15ED-45B0-960E-BC8E0A3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24175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A buyer may not know which nearby farms have the crop and quantity they need.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FCE8F-7BD0-4647-9A0A-3DA36852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004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D8D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02DEE-BF0D-43D6-B503-964C466B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70356E-A7D4-4A39-9C8B-6209B918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24300"/>
            <a:ext cx="4000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Price and timing are uncertain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96DAD-FBB7-41DF-9965-DDECF411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33825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Harvest dates, delivery windows, and price expectations can miss one another.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D85EB0-F9B7-4E10-BCDA-1CE6B115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101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D8D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DDF331-B0BD-4727-BE51-998560E2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DC7046-FC29-4878-B9EC-16C1AFF0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33950"/>
            <a:ext cx="4000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Agreement takes coordination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60681-2512-444D-BC11-B336A9F6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43475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Offers, counteroffers, and order status need a shared, understandable 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1408E5-1C28-436F-9F4A-37888134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MandiMatch focuses on discovery and deal coordination; it does not guarantee a sale or a market price.</a:t>
            </a:r>
          </a:p>
        </p:txBody>
      </p:sp>
    </p:spTree>
    <p:extLst>
      <p:ext uri="{BB962C8B-B14F-4D97-AF65-F5344CB8AC3E}">
        <p14:creationId xmlns:p14="http://schemas.microsoft.com/office/powerpoint/2010/main" val="5248568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A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7CC041-3C04-4951-BDC0-013026BD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9CD3B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CD3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CD3B4"/>
                </a:solidFill>
                <a:latin typeface="Aptos"/>
                <a:ea typeface="Aptos"/>
                <a:cs typeface="Aptos"/>
              </a:rPr>
              <a:t>HOW IT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DB7E3-F909-4EC2-B33D-018C5C47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One workflow from crop plan to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E985C-CF35-4839-9D7F-EC22758B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23"/>
          </a:solidFill>
          <a:ln xmlns:a="http://schemas.openxmlformats.org/drawingml/2006/main" w="0">
            <a:solidFill>
              <a:srgbClr val="F0B32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536AE-2269-49CD-8866-1D9C67D4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9AA9A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AA9A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AA9A0"/>
                </a:solidFill>
                <a:latin typeface="Aptos"/>
                <a:ea typeface="Aptos"/>
                <a:cs typeface="Aptos"/>
              </a:rPr>
              <a:t>MANDIMATCH  ·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1C047-5057-44D4-A21B-9F5892A1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C6D5C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6D5CC"/>
                </a:solidFill>
                <a:latin typeface="Aptos"/>
                <a:ea typeface="Aptos"/>
                <a:cs typeface="Aptos"/>
              </a:rPr>
              <a:t>Both sides describe what they can offer or need. MandiMatch helps them move toward a confirmed deal.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8990C-568E-45B7-A841-CDD01F4F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B32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61CE9-4EB6-4608-BBB2-AC1E2B21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Farmer / FPO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9050A-2A07-495C-ADD5-ADFA4F4B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8C9BE"/>
                </a:solidFill>
                <a:latin typeface="Aptos"/>
                <a:ea typeface="Aptos"/>
                <a:cs typeface="Aptos"/>
              </a:rPr>
              <a:t>Post crop, quantity, grade, price, location, harvest 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D9236-B1F2-481C-8DA6-B10BEE9A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099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B32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18E6CD-48F8-4E56-8633-A1420CEE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52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B32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A24D6-4405-4B42-9A8A-9D215B3F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99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40AF5-57EB-4B85-A5F8-4A072ADB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67150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8C9BE"/>
                </a:solidFill>
                <a:latin typeface="Aptos"/>
                <a:ea typeface="Aptos"/>
                <a:cs typeface="Aptos"/>
              </a:rPr>
              <a:t>Post crop, quantity, budget, location, delivery 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7D57E-DF4C-45DA-AB7D-8DEF9DD9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099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B32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CBD07-5ACB-4017-9C64-5A07564E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52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B32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13FC1-3AC8-4239-B4E8-38E6A7FD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099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588067-E48E-4BD6-87F7-5463C4B1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67150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8C9BE"/>
                </a:solidFill>
                <a:latin typeface="Aptos"/>
                <a:ea typeface="Aptos"/>
                <a:cs typeface="Aptos"/>
              </a:rPr>
              <a:t>Compare crop, quantity, price, dates, and district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7BEB5E-3880-4934-91B0-E4539609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099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B32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44148C-D0D8-4BE6-8BB0-FE1C7348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52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B32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C454F0-E5F3-4A70-882F-4833CDE2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099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Negotiate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2F419B-67DE-4263-94F8-D497C1A1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67150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8C9BE"/>
                </a:solidFill>
                <a:latin typeface="Aptos"/>
                <a:ea typeface="Aptos"/>
                <a:cs typeface="Aptos"/>
              </a:rPr>
              <a:t>Send an offer, respond, or counteroffer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7D8AFC-9DF0-4549-A06C-B1C87681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099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B32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FFEFDD-6900-4F05-9F78-E500E2EB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52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B32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854403-A1AD-4BEB-A915-5A95AA92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099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5027A8-7E12-4F59-8D54-3601D831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67150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8C9BE"/>
                </a:solidFill>
                <a:latin typeface="Aptos"/>
                <a:ea typeface="Aptos"/>
                <a:cs typeface="Aptos"/>
              </a:rPr>
              <a:t>Confirm the deal; contact details become available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ED811A-36FF-4057-8674-B8D5AFFD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846"/>
          </a:solidFill>
          <a:ln xmlns:a="http://schemas.openxmlformats.org/drawingml/2006/main" w="0">
            <a:solidFill>
              <a:srgbClr val="36584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B7AD51-B24C-42B1-B239-880D8AA3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DDEBE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DEBE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DEBE0"/>
                </a:solidFill>
                <a:latin typeface="Aptos"/>
                <a:ea typeface="Aptos"/>
                <a:cs typeface="Aptos"/>
              </a:rPr>
              <a:t>A contact number is shared only after the offer is accepted and a deal is confirmed.</a:t>
            </a:r>
          </a:p>
        </p:txBody>
      </p:sp>
    </p:spTree>
    <p:extLst>
      <p:ext uri="{BB962C8B-B14F-4D97-AF65-F5344CB8AC3E}">
        <p14:creationId xmlns:p14="http://schemas.microsoft.com/office/powerpoint/2010/main" val="16168241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1DA63D-EA30-4F65-9A78-BA704DDD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TECHNICAL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39EC7-7703-433E-AEC1-A8D4AFF8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Matching weighs fit, not just crop name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A0F49-EAF4-4EAC-BA28-2247B20E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23"/>
          </a:solidFill>
          <a:ln xmlns:a="http://schemas.openxmlformats.org/drawingml/2006/main" w="0">
            <a:solidFill>
              <a:srgbClr val="F0B32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316EB-DD4B-4C83-B4BF-CC1A4918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63"/>
                </a:solidFill>
                <a:latin typeface="Aptos"/>
                <a:ea typeface="Aptos"/>
                <a:cs typeface="Aptos"/>
              </a:rPr>
              <a:t>MANDIMATCH  ·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5C338-6ED4-43B4-9A88-2BE149D5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A match score combines four practical signals: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26230-1A25-479A-B721-613272B5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E0769-4EC9-49CA-86D4-D9DEA5AA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812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Quantity fit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455DD-85B4-4CE4-B257-AF2AABCA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90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Can the available lot cover the buyer’s need?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E466C1-7EA4-4A72-83A1-F8642B2A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124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D8D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1B1E1-B96A-4461-A865-9010012F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0FB5DC-C732-4930-80B3-FC91187F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004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Price fit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CA61D-7ECE-4ED9-A557-F199A10B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099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Does the ask fit within the buyer’s budget?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97D2DC-236B-42EC-B0EC-F76DA495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433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D8D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FA656E-47B9-483E-B520-4B42E2D6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8814B-EDEF-4224-B17E-FA285BA1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195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Date fit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B4D731-58EF-4CD1-B540-A9351F02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291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Do harvest and delivery dates line up?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BAC749-AB01-4180-ACE0-996FA3E5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7625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D8D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F847CD-BEAA-4769-AA29-DB2BF03C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D6A232-694E-4B83-963A-89E2311C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0387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District 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D7E6CD-FB7A-48C0-B1B6-A5B10E81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482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How close are the listed locations?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886BED-FF7B-4B04-A96F-D4960C9F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Eligible crop pairs score from 0–100; the prototype displays matches from 35 upward.</a:t>
            </a:r>
          </a:p>
        </p:txBody>
      </p:sp>
    </p:spTree>
    <p:extLst>
      <p:ext uri="{BB962C8B-B14F-4D97-AF65-F5344CB8AC3E}">
        <p14:creationId xmlns:p14="http://schemas.microsoft.com/office/powerpoint/2010/main" val="13240702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A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7BCF1-06D9-4AF6-946E-AEAD860E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9CD3B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CD3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CD3B4"/>
                </a:solidFill>
                <a:latin typeface="Aptos"/>
                <a:ea typeface="Aptos"/>
                <a:cs typeface="Aptos"/>
              </a:rPr>
              <a:t>INNOVATION AND PRACTICAL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72F6D-69F6-4017-A411-104C1D47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Clearer terms and a safer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6AB11-BEB4-4DC6-9CF1-C523BF40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23"/>
          </a:solidFill>
          <a:ln xmlns:a="http://schemas.openxmlformats.org/drawingml/2006/main" w="0">
            <a:solidFill>
              <a:srgbClr val="F0B32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09A61-0B00-4ABA-B5D8-B4738A93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9AA9A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AA9A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AA9A0"/>
                </a:solidFill>
                <a:latin typeface="Aptos"/>
                <a:ea typeface="Aptos"/>
                <a:cs typeface="Aptos"/>
              </a:rPr>
              <a:t>MANDIMATCH  ·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D4C60-BB87-45CF-BB02-D58E9B1D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DEBE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DEBE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DEBE0"/>
                </a:solidFill>
                <a:latin typeface="Aptos"/>
                <a:ea typeface="Aptos"/>
                <a:cs typeface="Aptos"/>
              </a:rPr>
              <a:t>Before confirmation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63963-457A-41AF-B59D-65992BEF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04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C6D5C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C6D5CC"/>
                </a:solidFill>
                <a:latin typeface="Aptos"/>
                <a:ea typeface="Aptos"/>
                <a:cs typeface="Aptos"/>
              </a:rPr>
              <a:t>OTP-verified mobile sign-up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C6D5CC"/>
                </a:solidFill>
                <a:latin typeface="Aptos"/>
                <a:ea typeface="Aptos"/>
                <a:cs typeface="Aptos"/>
              </a:rPr>
              <a:t>Crop, quantity, grade, dates, and location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C6D5CC"/>
                </a:solidFill>
                <a:latin typeface="Aptos"/>
                <a:ea typeface="Aptos"/>
                <a:cs typeface="Aptos"/>
              </a:rPr>
              <a:t>Offers and counteroffers stay in a visible history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C6D5CC"/>
                </a:solidFill>
                <a:latin typeface="Aptos"/>
                <a:ea typeface="Aptos"/>
                <a:cs typeface="Aptos"/>
              </a:rPr>
              <a:t>Mandi price references are labelled as simulated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1D846-1DC6-462A-A344-1B9CDD81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62150"/>
            <a:ext cx="381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23"/>
          </a:solidFill>
          <a:ln xmlns:a="http://schemas.openxmlformats.org/drawingml/2006/main" w="0">
            <a:solidFill>
              <a:srgbClr val="F0B32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E1281-A3B8-4964-B5B4-DD2AC274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DEBE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DEBE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DEBE0"/>
                </a:solidFill>
                <a:latin typeface="Aptos"/>
                <a:ea typeface="Aptos"/>
                <a:cs typeface="Aptos"/>
              </a:rPr>
              <a:t>After confirmation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F07F4-499D-4DEC-B3EB-5CE971A1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457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C6D5C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6D5CC"/>
                </a:solidFill>
                <a:latin typeface="Aptos"/>
                <a:ea typeface="Aptos"/>
                <a:cs typeface="Aptos"/>
              </a:rPr>
              <a:t>Both participants can see a call button for the other party. The contact is released only after the deal is accepted.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A9CD1-0E30-4846-9005-880D8D09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29100"/>
            <a:ext cx="466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DB4A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9DB4A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DB4A5"/>
                </a:solidFill>
                <a:latin typeface="Aptos"/>
                <a:ea typeface="Aptos"/>
                <a:cs typeface="Aptos"/>
              </a:rPr>
              <a:t>Illustrative example from the project README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61068-E55D-466C-BE6C-11DA23B9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910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25 q × ₹2,200/q = ₹55,000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Estimated 2.5% fee = ₹1,375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0429D-13A4-4621-924F-0C00B9D6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8640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9DB4A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9DB4A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DB4A5"/>
                </a:solidFill>
                <a:latin typeface="Aptos"/>
                <a:ea typeface="Aptos"/>
                <a:cs typeface="Aptos"/>
              </a:rPr>
              <a:t>The example is simulated; it is not a live quote or a charged fee.</a:t>
            </a:r>
          </a:p>
        </p:txBody>
      </p:sp>
    </p:spTree>
    <p:extLst>
      <p:ext uri="{BB962C8B-B14F-4D97-AF65-F5344CB8AC3E}">
        <p14:creationId xmlns:p14="http://schemas.microsoft.com/office/powerpoint/2010/main" val="8438551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D15DC5-182B-49CF-B8F2-3276925B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PRODUCT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0BF2F-4343-4293-AEA9-E5DEC94F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The product in the user’s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E621D-B815-4E40-9DE8-A28CBEC3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23"/>
          </a:solidFill>
          <a:ln xmlns:a="http://schemas.openxmlformats.org/drawingml/2006/main" w="0">
            <a:solidFill>
              <a:srgbClr val="F0B32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E106E-1736-41F3-884E-1BCD6852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63"/>
                </a:solidFill>
                <a:latin typeface="Aptos"/>
                <a:ea typeface="Aptos"/>
                <a:cs typeface="Aptos"/>
              </a:rPr>
              <a:t>MANDIMATCH  ·  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25CD9-0C00-4E36-A665-FF34CBF4C8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cc33db6d848a5"/>
          <a:srcRect xmlns:a="http://schemas.openxmlformats.org/drawingml/2006/main" l="0" t="3077" r="0" b="30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47850"/>
            <a:ext cx="6667500" cy="40957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D39B1-888E-441A-80C8-03237266F7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c399c9f134e6c"/>
          <a:srcRect xmlns:a="http://schemas.openxmlformats.org/drawingml/2006/main" l="330" t="0" r="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4300" y="2133600"/>
            <a:ext cx="3771900" cy="1619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D4319-100D-4087-838C-CA4F181F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386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Deal progress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F30F1-1BFF-4B95-9529-24B7D062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38650"/>
            <a:ext cx="346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The dashboard brings listings, response needs, volume, and offers together.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B1083-A2A6-4E4F-9952-4BF06F84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768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Profile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15EAD-0CC1-45EF-8D0F-0B06019F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19750"/>
            <a:ext cx="346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Active and completed posts remain visible to the account owner.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F2DB2-472D-4251-A880-FE000942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Screenshots show prototype UI; displayed account and deal values are sample data.</a:t>
            </a:r>
          </a:p>
        </p:txBody>
      </p:sp>
    </p:spTree>
    <p:extLst>
      <p:ext uri="{BB962C8B-B14F-4D97-AF65-F5344CB8AC3E}">
        <p14:creationId xmlns:p14="http://schemas.microsoft.com/office/powerpoint/2010/main" val="16435717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953F9D-5258-442E-B66F-30A1113F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OUTCOMES TO MEASURE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0D7AE-9A1D-46A3-B188-DB7E4523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KPIs for a real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671A0-3AB2-498A-9D15-14AC8A70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23"/>
          </a:solidFill>
          <a:ln xmlns:a="http://schemas.openxmlformats.org/drawingml/2006/main" w="0">
            <a:solidFill>
              <a:srgbClr val="F0B32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7DB39-F294-4B99-8FF0-07ECFDF2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63"/>
                </a:solidFill>
                <a:latin typeface="Aptos"/>
                <a:ea typeface="Aptos"/>
                <a:cs typeface="Aptos"/>
              </a:rPr>
              <a:t>MANDIMATCH  · 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83CE0-478C-4B77-AD3D-E9F2462C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Track outcomes after real farmers and buyers use the marketplace. No live pilot results are claimed yet.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28214-A769-4790-8BE2-3D5934D0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DISCOVERY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1F407-D687-449E-9204-92D9E6CE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Active listings and buyer needs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D287A-A91E-4370-9B82-36A1667D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Eligible posts that receive a relevant match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D60F9-0F2A-43E1-84D7-7059238E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23"/>
          </a:solidFill>
          <a:ln xmlns:a="http://schemas.openxmlformats.org/drawingml/2006/main" w="0">
            <a:solidFill>
              <a:srgbClr val="F0B32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1472A-E343-410D-84D1-BD4C06D7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CONVERSION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CE45B9-DFF0-4A8D-B9A8-A7B8EA7E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861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Offers sent and deals confirmed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571FD-AB29-4013-B301-CC25B873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Offer acceptance rate; median time to confirmation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4FB74E-A98E-4653-ADE8-20ABEEDB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719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D8D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86BA1-EB70-4471-B0EB-CA348C14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TRADE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98D23B-39D3-47B3-87CA-3DF8FD13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Confirmed quintals traded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2437DF-CFB1-4BEB-9DED-968A43DD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Agreed deal value, reported in 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D1F06B-F656-42AC-9982-ED58CB35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D8D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24DB9-0E6E-4A63-9676-99AB154B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19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935F60-6B07-43CB-9E27-05E64BAA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Verified contact coverage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19E633-2835-476F-9A65-D9BB2045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8162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Review completion and post-deal feedback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069261-4F45-4FBF-9C3A-FE125BAD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388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D8D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306F83-74B8-4BBE-9F09-B442BB36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Baseline → pilot → compare by role, crop, and district</a:t>
            </a:r>
          </a:p>
        </p:txBody>
      </p:sp>
    </p:spTree>
    <p:extLst>
      <p:ext uri="{BB962C8B-B14F-4D97-AF65-F5344CB8AC3E}">
        <p14:creationId xmlns:p14="http://schemas.microsoft.com/office/powerpoint/2010/main" val="21182459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A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15162-08BD-4593-B4FD-105EBBBE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9CD3B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CD3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CD3B4"/>
                </a:solidFill>
                <a:latin typeface="Aptos"/>
                <a:ea typeface="Aptos"/>
                <a:cs typeface="Aptos"/>
              </a:rPr>
              <a:t>LEARNING AND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40CF5-BE8E-4AB3-B6BB-139C4F0B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Feedback shaped the next 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053A0-7FB1-4744-BC81-9E24DBB8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23"/>
          </a:solidFill>
          <a:ln xmlns:a="http://schemas.openxmlformats.org/drawingml/2006/main" w="0">
            <a:solidFill>
              <a:srgbClr val="F0B32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0111F-FD78-419E-BBE6-7E9E903F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9AA9A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AA9A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AA9A0"/>
                </a:solidFill>
                <a:latin typeface="Aptos"/>
                <a:ea typeface="Aptos"/>
                <a:cs typeface="Aptos"/>
              </a:rPr>
              <a:t>MANDIMATCH  ·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3A533-6A17-4A20-85CC-DEAD6E19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DEBE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DEBE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DEBE0"/>
                </a:solidFill>
                <a:latin typeface="Aptos"/>
                <a:ea typeface="Aptos"/>
                <a:cs typeface="Aptos"/>
              </a:rPr>
              <a:t>Changes made from user feedback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101F9-646B-4238-BBA2-BB23ABD3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953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C6D5C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C6D5CC"/>
                </a:solidFill>
                <a:latin typeface="Aptos"/>
                <a:ea typeface="Aptos"/>
                <a:cs typeface="Aptos"/>
              </a:rPr>
              <a:t>Active and completed profile history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C6D5CC"/>
                </a:solidFill>
                <a:latin typeface="Aptos"/>
                <a:ea typeface="Aptos"/>
                <a:cs typeface="Aptos"/>
              </a:rPr>
              <a:t>Clearer “waiting for your response” offer links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C6D5CC"/>
                </a:solidFill>
                <a:latin typeface="Aptos"/>
                <a:ea typeface="Aptos"/>
                <a:cs typeface="Aptos"/>
              </a:rPr>
              <a:t>Contact buttons after deal confirmation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C6D5CC"/>
                </a:solidFill>
                <a:latin typeface="Aptos"/>
                <a:ea typeface="Aptos"/>
                <a:cs typeface="Aptos"/>
              </a:rPr>
              <a:t>Crop grade and dated listing details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CF809-2E35-497C-8668-8C0F80C3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381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23"/>
          </a:solidFill>
          <a:ln xmlns:a="http://schemas.openxmlformats.org/drawingml/2006/main" w="0">
            <a:solidFill>
              <a:srgbClr val="F0B32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35D22-D78F-4866-A9DB-1695FCA8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DEBE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DEBE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DEBE0"/>
                </a:solidFill>
                <a:latin typeface="Aptos"/>
                <a:ea typeface="Aptos"/>
                <a:cs typeface="Aptos"/>
              </a:rPr>
              <a:t>What I want to learn next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2B70A-EA02-4482-B0DD-D629B460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90800"/>
            <a:ext cx="4762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C6D5C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6D5CC"/>
                </a:solidFill>
                <a:latin typeface="Aptos"/>
                <a:ea typeface="Aptos"/>
                <a:cs typeface="Aptos"/>
              </a:rPr>
              <a:t>• Can nearby users find a useful match?</a:t>
            </a:r>
          </a:p>
          <a:p xmlns:a="http://schemas.openxmlformats.org/drawingml/2006/main">
            <a:pPr algn="l">
              <a:defRPr sz="1500" b="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6D5CC"/>
                </a:solidFill>
                <a:latin typeface="Aptos"/>
                <a:ea typeface="Aptos"/>
                <a:cs typeface="Aptos"/>
              </a:rPr>
              <a:t>• Which part of negotiation causes delay?</a:t>
            </a:r>
          </a:p>
          <a:p xmlns:a="http://schemas.openxmlformats.org/drawingml/2006/main">
            <a:pPr algn="l">
              <a:defRPr sz="1500" b="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6D5CC"/>
                </a:solidFill>
                <a:latin typeface="Aptos"/>
                <a:ea typeface="Aptos"/>
                <a:cs typeface="Aptos"/>
              </a:rPr>
              <a:t>• What price and transport details are missing?</a:t>
            </a:r>
          </a:p>
          <a:p xmlns:a="http://schemas.openxmlformats.org/drawingml/2006/main">
            <a:pPr algn="l">
              <a:defRPr sz="1500" b="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6D5CC"/>
                </a:solidFill>
                <a:latin typeface="Aptos"/>
                <a:ea typeface="Aptos"/>
                <a:cs typeface="Aptos"/>
              </a:rPr>
              <a:t>• Do users trust the confirmation and contact flow?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5E1B6-76C4-4FCE-8106-BB96647E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2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 step: run a small farmer–buyer pilot, record the KPIs, and use feedback to prioritize live data and production needs.</a:t>
            </a:r>
          </a:p>
        </p:txBody>
      </p:sp>
    </p:spTree>
    <p:extLst>
      <p:ext uri="{BB962C8B-B14F-4D97-AF65-F5344CB8AC3E}">
        <p14:creationId xmlns:p14="http://schemas.microsoft.com/office/powerpoint/2010/main" val="1387058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2026-10-11T05:37:03.0010000Z</dcterms:created>
  <dcterms:modified xsi:type="dcterms:W3CDTF">2026-10-11T05:37:03.0010000Z</dcterms:modified>
</coreProperties>
</file>